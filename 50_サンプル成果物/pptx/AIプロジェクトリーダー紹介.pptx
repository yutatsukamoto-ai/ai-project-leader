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86B2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46304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AFAF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AI プロジェクトリーダー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0" y="2606040"/>
            <a:ext cx="2743200" cy="0"/>
          </a:xfrm>
          <a:prstGeom prst="line">
            <a:avLst/>
          </a:prstGeom>
          <a:noFill/>
          <a:ln w="19050">
            <a:solidFill>
              <a:srgbClr val="C86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0" y="278892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D0D9E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PMBOK × AI で</a:t>
            </a:r>
            <a:endParaRPr lang="en-US" sz="14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D0D9E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プロジェクトを漏れなく完走させる Skill セット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0" y="3703320"/>
            <a:ext cx="2743200" cy="0"/>
          </a:xfrm>
          <a:prstGeom prst="line">
            <a:avLst/>
          </a:prstGeom>
          <a:noFill/>
          <a:ln w="19050">
            <a:solidFill>
              <a:srgbClr val="C86B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4805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for Cowork / Claude Code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65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AI だけでは「抜け漏れ」を防げない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5720" cy="3200400"/>
          </a:xfrm>
          <a:prstGeom prst="rect">
            <a:avLst/>
          </a:prstGeom>
          <a:solidFill>
            <a:srgbClr val="C86B2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3444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CBA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65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フェーズの見落とし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AI は工程の全体像を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持っていない。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必要な作業が抜ける。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45720" cy="3200400"/>
          </a:xfrm>
          <a:prstGeom prst="rect">
            <a:avLst/>
          </a:prstGeom>
          <a:solidFill>
            <a:srgbClr val="C86B2A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23444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CBA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02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474720" y="19202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65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知識の散逸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74720" y="246888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案件が終わると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ナレッジが消える。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毎回ゼロからになる。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188720"/>
            <a:ext cx="45720" cy="3200400"/>
          </a:xfrm>
          <a:prstGeom prst="rect">
            <a:avLst/>
          </a:prstGeom>
          <a:solidFill>
            <a:srgbClr val="C86B2A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234440"/>
            <a:ext cx="914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CBA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03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309360" y="19202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65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品質のばらつき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309360" y="246888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型がないと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担当者で品質が変わる。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属人化が進む。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65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6 フェーズ × 7 ドメインが「地図」になる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各フェーズに Skill を配置し、構造自体がチェックリストとして機能する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845820" y="1417320"/>
            <a:ext cx="1051560" cy="594360"/>
          </a:xfrm>
          <a:prstGeom prst="rect">
            <a:avLst>
              <a:gd name="adj" fmla="val 6154"/>
            </a:avLst>
          </a:prstGeom>
          <a:solidFill>
            <a:srgbClr val="1B365D"/>
          </a:solidFill>
          <a:ln/>
        </p:spPr>
      </p:sp>
      <p:sp>
        <p:nvSpPr>
          <p:cNvPr id="5" name="Text 3"/>
          <p:cNvSpPr/>
          <p:nvPr/>
        </p:nvSpPr>
        <p:spPr>
          <a:xfrm>
            <a:off x="845820" y="141732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前段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920240" y="1604772"/>
            <a:ext cx="182880" cy="219456"/>
          </a:xfrm>
          <a:prstGeom prst="chevron">
            <a:avLst/>
          </a:prstGeom>
          <a:solidFill>
            <a:srgbClr val="C86B2A"/>
          </a:solidFill>
          <a:ln/>
        </p:spPr>
      </p:sp>
      <p:sp>
        <p:nvSpPr>
          <p:cNvPr id="7" name="Shape 5"/>
          <p:cNvSpPr/>
          <p:nvPr/>
        </p:nvSpPr>
        <p:spPr>
          <a:xfrm>
            <a:off x="2125980" y="1417320"/>
            <a:ext cx="1051560" cy="594360"/>
          </a:xfrm>
          <a:prstGeom prst="rect">
            <a:avLst>
              <a:gd name="adj" fmla="val 6154"/>
            </a:avLst>
          </a:prstGeom>
          <a:solidFill>
            <a:srgbClr val="1B365D"/>
          </a:solidFill>
          <a:ln/>
        </p:spPr>
      </p:sp>
      <p:sp>
        <p:nvSpPr>
          <p:cNvPr id="8" name="Text 6"/>
          <p:cNvSpPr/>
          <p:nvPr/>
        </p:nvSpPr>
        <p:spPr>
          <a:xfrm>
            <a:off x="2125980" y="141732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立ち上げ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1604772"/>
            <a:ext cx="182880" cy="219456"/>
          </a:xfrm>
          <a:prstGeom prst="chevron">
            <a:avLst/>
          </a:prstGeom>
          <a:solidFill>
            <a:srgbClr val="C86B2A"/>
          </a:solidFill>
          <a:ln/>
        </p:spPr>
      </p:sp>
      <p:sp>
        <p:nvSpPr>
          <p:cNvPr id="10" name="Shape 8"/>
          <p:cNvSpPr/>
          <p:nvPr/>
        </p:nvSpPr>
        <p:spPr>
          <a:xfrm>
            <a:off x="3406140" y="1417320"/>
            <a:ext cx="1051560" cy="594360"/>
          </a:xfrm>
          <a:prstGeom prst="rect">
            <a:avLst>
              <a:gd name="adj" fmla="val 6154"/>
            </a:avLst>
          </a:prstGeom>
          <a:solidFill>
            <a:srgbClr val="1B365D"/>
          </a:solidFill>
          <a:ln/>
        </p:spPr>
      </p:sp>
      <p:sp>
        <p:nvSpPr>
          <p:cNvPr id="11" name="Text 9"/>
          <p:cNvSpPr/>
          <p:nvPr/>
        </p:nvSpPr>
        <p:spPr>
          <a:xfrm>
            <a:off x="3406140" y="141732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計画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80560" y="1604772"/>
            <a:ext cx="182880" cy="219456"/>
          </a:xfrm>
          <a:prstGeom prst="chevron">
            <a:avLst/>
          </a:prstGeom>
          <a:solidFill>
            <a:srgbClr val="C86B2A"/>
          </a:solidFill>
          <a:ln/>
        </p:spPr>
      </p:sp>
      <p:sp>
        <p:nvSpPr>
          <p:cNvPr id="13" name="Shape 11"/>
          <p:cNvSpPr/>
          <p:nvPr/>
        </p:nvSpPr>
        <p:spPr>
          <a:xfrm>
            <a:off x="4686300" y="1417320"/>
            <a:ext cx="1051560" cy="594360"/>
          </a:xfrm>
          <a:prstGeom prst="rect">
            <a:avLst>
              <a:gd name="adj" fmla="val 6154"/>
            </a:avLst>
          </a:prstGeom>
          <a:solidFill>
            <a:srgbClr val="1B365D"/>
          </a:solidFill>
          <a:ln/>
        </p:spPr>
      </p:sp>
      <p:sp>
        <p:nvSpPr>
          <p:cNvPr id="14" name="Text 12"/>
          <p:cNvSpPr/>
          <p:nvPr/>
        </p:nvSpPr>
        <p:spPr>
          <a:xfrm>
            <a:off x="4686300" y="141732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実行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760720" y="1604772"/>
            <a:ext cx="182880" cy="219456"/>
          </a:xfrm>
          <a:prstGeom prst="chevron">
            <a:avLst/>
          </a:prstGeom>
          <a:solidFill>
            <a:srgbClr val="C86B2A"/>
          </a:solidFill>
          <a:ln/>
        </p:spPr>
      </p:sp>
      <p:sp>
        <p:nvSpPr>
          <p:cNvPr id="16" name="Shape 14"/>
          <p:cNvSpPr/>
          <p:nvPr/>
        </p:nvSpPr>
        <p:spPr>
          <a:xfrm>
            <a:off x="5966460" y="1417320"/>
            <a:ext cx="1051560" cy="594360"/>
          </a:xfrm>
          <a:prstGeom prst="rect">
            <a:avLst>
              <a:gd name="adj" fmla="val 6154"/>
            </a:avLst>
          </a:prstGeom>
          <a:solidFill>
            <a:srgbClr val="1B365D"/>
          </a:solidFill>
          <a:ln/>
        </p:spPr>
      </p:sp>
      <p:sp>
        <p:nvSpPr>
          <p:cNvPr id="17" name="Text 15"/>
          <p:cNvSpPr/>
          <p:nvPr/>
        </p:nvSpPr>
        <p:spPr>
          <a:xfrm>
            <a:off x="5966460" y="141732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監視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040880" y="1604772"/>
            <a:ext cx="182880" cy="219456"/>
          </a:xfrm>
          <a:prstGeom prst="chevron">
            <a:avLst/>
          </a:prstGeom>
          <a:solidFill>
            <a:srgbClr val="C86B2A"/>
          </a:solidFill>
          <a:ln/>
        </p:spPr>
      </p:sp>
      <p:sp>
        <p:nvSpPr>
          <p:cNvPr id="19" name="Shape 17"/>
          <p:cNvSpPr/>
          <p:nvPr/>
        </p:nvSpPr>
        <p:spPr>
          <a:xfrm>
            <a:off x="7246620" y="1417320"/>
            <a:ext cx="1051560" cy="594360"/>
          </a:xfrm>
          <a:prstGeom prst="rect">
            <a:avLst>
              <a:gd name="adj" fmla="val 6154"/>
            </a:avLst>
          </a:prstGeom>
          <a:solidFill>
            <a:srgbClr val="1B365D"/>
          </a:solidFill>
          <a:ln/>
        </p:spPr>
      </p:sp>
      <p:sp>
        <p:nvSpPr>
          <p:cNvPr id="20" name="Text 18"/>
          <p:cNvSpPr/>
          <p:nvPr/>
        </p:nvSpPr>
        <p:spPr>
          <a:xfrm>
            <a:off x="7246620" y="1417320"/>
            <a:ext cx="1051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AFAF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終結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0080" y="2377440"/>
            <a:ext cx="7863840" cy="0"/>
          </a:xfrm>
          <a:prstGeom prst="line">
            <a:avLst/>
          </a:prstGeom>
          <a:noFill/>
          <a:ln w="9525">
            <a:solidFill>
              <a:srgbClr val="D0D9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26060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6B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31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Skills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640080" y="32461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全フェーズ・全ドメインを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カバーする Skill 群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260604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86B2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38</a:t>
            </a:r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  検証ケース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4846320" y="32461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LLM-judge 自動評価で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品質を担保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3931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365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7 ドメイン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スコープ ・ スケジュール ・ コスト ・ 品質 ・ リソース ・ コミュニケーション ・ リスク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65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使うほど賢くなる「秘伝の出汁」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3017520"/>
          </a:xfrm>
          <a:prstGeom prst="rect">
            <a:avLst>
              <a:gd name="adj" fmla="val 1429"/>
            </a:avLst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45720" cy="3017520"/>
          </a:xfrm>
          <a:prstGeom prst="rect">
            <a:avLst/>
          </a:prstGeom>
          <a:solidFill>
            <a:srgbClr val="C86B2A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CBA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65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可視化された知識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" y="2468880"/>
            <a:ext cx="2194560" cy="0"/>
          </a:xfrm>
          <a:prstGeom prst="line">
            <a:avLst/>
          </a:prstGeom>
          <a:noFill/>
          <a:ln w="6350">
            <a:solidFill>
              <a:srgbClr val="D0D9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60604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判断ログ・記録が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すべてファイルに残る。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学んだことが見える。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188720"/>
            <a:ext cx="2560320" cy="3017520"/>
          </a:xfrm>
          <a:prstGeom prst="rect">
            <a:avLst>
              <a:gd name="adj" fmla="val 1429"/>
            </a:avLst>
          </a:prstGeom>
          <a:solidFill>
            <a:srgbClr val="FAFAFA"/>
          </a:solidFill>
          <a:ln/>
        </p:spPr>
      </p:sp>
      <p:sp>
        <p:nvSpPr>
          <p:cNvPr id="10" name="Shape 8"/>
          <p:cNvSpPr/>
          <p:nvPr/>
        </p:nvSpPr>
        <p:spPr>
          <a:xfrm>
            <a:off x="3291840" y="1188720"/>
            <a:ext cx="45720" cy="3017520"/>
          </a:xfrm>
          <a:prstGeom prst="rect">
            <a:avLst/>
          </a:prstGeom>
          <a:solidFill>
            <a:srgbClr val="C86B2A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2801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CBA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474720" y="19659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65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PM 特化の深さ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474720" y="2468880"/>
            <a:ext cx="2194560" cy="0"/>
          </a:xfrm>
          <a:prstGeom prst="line">
            <a:avLst/>
          </a:prstGeom>
          <a:noFill/>
          <a:ln w="6350">
            <a:solidFill>
              <a:srgbClr val="D0D9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260604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PMBOK 第8版を骨格に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案件を重ねるほど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品質基準が磨かれる。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188720"/>
            <a:ext cx="2560320" cy="3017520"/>
          </a:xfrm>
          <a:prstGeom prst="rect">
            <a:avLst>
              <a:gd name="adj" fmla="val 1429"/>
            </a:avLst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6126480" y="1188720"/>
            <a:ext cx="45720" cy="3017520"/>
          </a:xfrm>
          <a:prstGeom prst="rect">
            <a:avLst/>
          </a:prstGeom>
          <a:solidFill>
            <a:srgbClr val="C86B2A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28016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CBA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309360" y="1965960"/>
            <a:ext cx="2194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65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移植可能な設計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309360" y="2468880"/>
            <a:ext cx="2194560" cy="0"/>
          </a:xfrm>
          <a:prstGeom prst="line">
            <a:avLst/>
          </a:prstGeom>
          <a:noFill/>
          <a:ln w="6350">
            <a:solidFill>
              <a:srgbClr val="D0D9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260604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 層モデルにより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自分だけの知見を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レシピとして渡せる。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65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 ステップで始められる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2286000" cy="2011680"/>
          </a:xfrm>
          <a:prstGeom prst="rect">
            <a:avLst>
              <a:gd name="adj" fmla="val 2273"/>
            </a:avLst>
          </a:prstGeom>
          <a:solidFill>
            <a:srgbClr val="FAFAF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2286000" cy="54864"/>
          </a:xfrm>
          <a:prstGeom prst="rect">
            <a:avLst/>
          </a:prstGeom>
          <a:solidFill>
            <a:srgbClr val="C86B2A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55448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CBA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94360" y="2148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65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導入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26060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Skill ファイルを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インストールするだけ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012948" y="2267712"/>
            <a:ext cx="182880" cy="219456"/>
          </a:xfrm>
          <a:prstGeom prst="chevron">
            <a:avLst/>
          </a:prstGeom>
          <a:solidFill>
            <a:srgbClr val="C86B2A"/>
          </a:solidFill>
          <a:ln/>
        </p:spPr>
      </p:sp>
      <p:sp>
        <p:nvSpPr>
          <p:cNvPr id="9" name="Shape 7"/>
          <p:cNvSpPr/>
          <p:nvPr/>
        </p:nvSpPr>
        <p:spPr>
          <a:xfrm>
            <a:off x="3429000" y="1371600"/>
            <a:ext cx="2286000" cy="2011680"/>
          </a:xfrm>
          <a:prstGeom prst="rect">
            <a:avLst>
              <a:gd name="adj" fmla="val 2273"/>
            </a:avLst>
          </a:prstGeom>
          <a:solidFill>
            <a:srgbClr val="FAFAFA"/>
          </a:solidFill>
          <a:ln/>
        </p:spPr>
      </p:sp>
      <p:sp>
        <p:nvSpPr>
          <p:cNvPr id="10" name="Shape 8"/>
          <p:cNvSpPr/>
          <p:nvPr/>
        </p:nvSpPr>
        <p:spPr>
          <a:xfrm>
            <a:off x="3429000" y="1371600"/>
            <a:ext cx="2286000" cy="54864"/>
          </a:xfrm>
          <a:prstGeom prst="rect">
            <a:avLst/>
          </a:prstGeom>
          <a:solidFill>
            <a:srgbClr val="C86B2A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55448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CBA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02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566160" y="2148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65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テーラリング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66160" y="26060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案件に合わせて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使う Skill を選ぶ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84748" y="2267712"/>
            <a:ext cx="182880" cy="219456"/>
          </a:xfrm>
          <a:prstGeom prst="chevron">
            <a:avLst/>
          </a:prstGeom>
          <a:solidFill>
            <a:srgbClr val="C86B2A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0" y="1371600"/>
            <a:ext cx="2286000" cy="2011680"/>
          </a:xfrm>
          <a:prstGeom prst="rect">
            <a:avLst>
              <a:gd name="adj" fmla="val 2273"/>
            </a:avLst>
          </a:prstGeom>
          <a:solidFill>
            <a:srgbClr val="FAFAFA"/>
          </a:solidFill>
          <a:ln/>
        </p:spPr>
      </p:sp>
      <p:sp>
        <p:nvSpPr>
          <p:cNvPr id="16" name="Shape 14"/>
          <p:cNvSpPr/>
          <p:nvPr/>
        </p:nvSpPr>
        <p:spPr>
          <a:xfrm>
            <a:off x="6400800" y="1371600"/>
            <a:ext cx="2286000" cy="54864"/>
          </a:xfrm>
          <a:prstGeom prst="rect">
            <a:avLst/>
          </a:prstGeom>
          <a:solidFill>
            <a:srgbClr val="C86B2A"/>
          </a:solidFill>
          <a:ln/>
        </p:spPr>
      </p:sp>
      <p:sp>
        <p:nvSpPr>
          <p:cNvPr id="17" name="Text 15"/>
          <p:cNvSpPr/>
          <p:nvPr/>
        </p:nvSpPr>
        <p:spPr>
          <a:xfrm>
            <a:off x="6537960" y="1554480"/>
            <a:ext cx="731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CBA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03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537960" y="2148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65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実践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37960" y="260604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案件を回しながら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2D2D2D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ナレッジが蓄積される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型の強制ではなく、型の提示 + 調整余地。案件に合わせて柔軟に使える設計。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365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86B2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5544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2800" b="1" dirty="0">
                <a:solidFill>
                  <a:srgbClr val="FAFAF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構造で漏れを防ぎ、</a:t>
            </a:r>
            <a:endParaRPr lang="en-US" sz="2800" dirty="0"/>
          </a:p>
          <a:p>
            <a:pPr algn="ctr" indent="0" marL="0">
              <a:lnSpc>
                <a:spcPct val="160000"/>
              </a:lnSpc>
              <a:buNone/>
            </a:pPr>
            <a:r>
              <a:rPr lang="en-US" sz="2800" b="1" dirty="0">
                <a:solidFill>
                  <a:srgbClr val="FAFAF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蓄積で次の案件をもっと良くする。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2926080"/>
            <a:ext cx="2743200" cy="0"/>
          </a:xfrm>
          <a:prstGeom prst="line">
            <a:avLst/>
          </a:prstGeom>
          <a:noFill/>
          <a:ln w="19050">
            <a:solidFill>
              <a:srgbClr val="C86B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D0D9E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AI プロジェクトリーダー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D0D9E6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PMBOK × AI Skill Set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2026-06-16T14:31:35Z</dcterms:created>
  <dcterms:modified xsi:type="dcterms:W3CDTF">2026-06-16T14:31:35Z</dcterms:modified>
</cp:coreProperties>
</file>