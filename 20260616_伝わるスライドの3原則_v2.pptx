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1スライド1メッセージが全ての土台。2つ言いたいなら2枚に分ける。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表現系 = 並べ方（順番/対比/仕分け）　意味系 = 論理の組み立て（問題→打ち手/原因→結果/結論先出し）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横断ガイドライン §10「仕上げの引き算ルール」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2A3A4D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52F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73152" cy="1645920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伝わるスライドの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3原則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8D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 × 構造 × 引き算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slide-craft demo  |  2026.06.16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スライドの品質を決める3つの原則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2926080"/>
          </a:xfrm>
          <a:prstGeom prst="rect">
            <a:avLst>
              <a:gd name="adj" fmla="val 370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76200" dist="25400" dir="16200000">
              <a:srgbClr val="C8C3BB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2468880" cy="54864"/>
          </a:xfrm>
          <a:prstGeom prst="rect">
            <a:avLst>
              <a:gd name="adj" fmla="val 166667"/>
            </a:avLst>
          </a:prstGeom>
          <a:solidFill>
            <a:srgbClr val="9B5B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メッセージが8割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864108" cy="18288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デザインの前に「何を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伝えるか」を決める。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メッセージが曖昧なまま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装飾しても伝わらない。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468880" cy="2926080"/>
          </a:xfrm>
          <a:prstGeom prst="rect">
            <a:avLst>
              <a:gd name="adj" fmla="val 370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76200" dist="25400" dir="16200000">
              <a:srgbClr val="C8C3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2468880" cy="54864"/>
          </a:xfrm>
          <a:prstGeom prst="rect">
            <a:avLst>
              <a:gd name="adj" fmla="val 166667"/>
            </a:avLst>
          </a:prstGeom>
          <a:solidFill>
            <a:srgbClr val="9B5B3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構造で伝える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20440" y="2377440"/>
            <a:ext cx="864108" cy="18288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5603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6つの構造型で「見せ方」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を論理的に選ぶ。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32のレイアウトパターンが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判断を助ける。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468880" cy="2926080"/>
          </a:xfrm>
          <a:prstGeom prst="rect">
            <a:avLst>
              <a:gd name="adj" fmla="val 370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76200" dist="25400" dir="16200000">
              <a:srgbClr val="C8C3BB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468880" cy="54864"/>
          </a:xfrm>
          <a:prstGeom prst="rect">
            <a:avLst>
              <a:gd name="adj" fmla="val 166667"/>
            </a:avLst>
          </a:prstGeom>
          <a:solidFill>
            <a:srgbClr val="9B5B3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引き算で仕上げる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864108" cy="18288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5603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足すのではなく削る。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主役1点だけを目立たせ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残りのトーンを落とす。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メッセージが8割を決める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572000" cy="3291840"/>
          </a:xfrm>
          <a:prstGeom prst="rect">
            <a:avLst>
              <a:gd name="adj" fmla="val 2778"/>
            </a:avLst>
          </a:prstGeom>
          <a:solidFill>
            <a:srgbClr val="ECE8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よくある失敗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伝えたいことが曖昧なまま作り始める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コンテンツ（図表）から先に作る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情報を全部入れようとする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装飾で「それっぽく」仕上げる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914400"/>
            <a:ext cx="3474720" cy="3291840"/>
          </a:xfrm>
          <a:prstGeom prst="rect">
            <a:avLst>
              <a:gd name="adj" fmla="val 2778"/>
            </a:avLst>
          </a:prstGeom>
          <a:solidFill>
            <a:srgbClr val="F3EBE5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914400"/>
            <a:ext cx="3474720" cy="54864"/>
          </a:xfrm>
          <a:prstGeom prst="rect">
            <a:avLst>
              <a:gd name="adj" fmla="val 166667"/>
            </a:avLst>
          </a:prstGeom>
          <a:solidFill>
            <a:srgbClr val="9B5B3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正しい順番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1600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メッセージ（主張）を1つ決める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構成を設計する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788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レイアウトを選ぶ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最後にデザイン（配色・装飾）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構造型で「見せ方」を論理的に決める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情報の論理構造を判定すれば、レイアウトの候補が自動的に絞れる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08760" y="1234440"/>
            <a:ext cx="640080" cy="64008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AF9F7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14884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メッセージ確定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514600"/>
            <a:ext cx="768096" cy="18288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06040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1スライド1メッセージ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「だから何？」に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一文で答えられるか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540764"/>
            <a:ext cx="2103120" cy="27432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234440"/>
            <a:ext cx="640080" cy="640080"/>
          </a:xfrm>
          <a:prstGeom prst="ellipse">
            <a:avLst/>
          </a:prstGeom>
          <a:solidFill>
            <a:srgbClr val="9B5B3F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2057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3EBE5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1568" y="214884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構造型を判定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01568" y="2514600"/>
            <a:ext cx="768096" cy="18288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2606040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順番/対比/仕分け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問題→打ち手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原因→結果/結論先出し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540764"/>
            <a:ext cx="2103120" cy="27432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0" y="1234440"/>
            <a:ext cx="640080" cy="64008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2057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AF9F7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44768" y="214884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パターン選択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44768" y="2514600"/>
            <a:ext cx="768096" cy="18288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2606040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32パターン辞書から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構造型に合う配置を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座標つきで選ぶ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97280" y="3794760"/>
            <a:ext cx="6949440" cy="594360"/>
          </a:xfrm>
          <a:prstGeom prst="rect">
            <a:avLst>
              <a:gd name="adj" fmla="val 9231"/>
            </a:avLst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7947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迷ったら「結論先出し」— 最も汎用的で外れが少ない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B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引き算で仕上げる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ect">
            <a:avLst>
              <a:gd name="adj" fmla="val 7059"/>
            </a:avLst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777240"/>
          </a:xfrm>
          <a:prstGeom prst="rect">
            <a:avLst/>
          </a:prstGeom>
          <a:solidFill>
            <a:srgbClr val="9B5B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装飾を全部消して構造が崩れないなら、それらは不要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0" cy="1051560"/>
          </a:xfrm>
          <a:prstGeom prst="rect">
            <a:avLst>
              <a:gd name="adj" fmla="val 695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主役を1点に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主役だけ太字/アクセント色。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脇役はグレーか小文字に落とす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840480" cy="1051560"/>
          </a:xfrm>
          <a:prstGeom prst="rect">
            <a:avLst>
              <a:gd name="adj" fmla="val 695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余白でグルーピング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囲み線を引かず、近接と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遠隔だけでグループを伝える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840480" cy="1051560"/>
          </a:xfrm>
          <a:prstGeom prst="rect">
            <a:avLst>
              <a:gd name="adj" fmla="val 695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矢印は1対1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分岐矢印で視線を散らさない。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構造（ツリー・フロー）で表現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3840480" cy="1051560"/>
          </a:xfrm>
          <a:prstGeom prst="rect">
            <a:avLst>
              <a:gd name="adj" fmla="val 695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50800" dist="12700" dir="16200000">
              <a:srgbClr val="C8C3BB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CFC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注釈は欄外へ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657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本文エリアに注釈を混ぜない。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フッター近くに9ptでまとめる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2026-06-16T13:59:19Z</dcterms:created>
  <dcterms:modified xsi:type="dcterms:W3CDTF">2026-06-16T13:59:19Z</dcterms:modified>
</cp:coreProperties>
</file>