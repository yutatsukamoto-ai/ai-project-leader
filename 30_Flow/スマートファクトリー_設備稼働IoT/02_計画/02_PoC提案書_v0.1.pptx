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554480"/>
            <a:ext cx="27432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PoC提案書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CC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設備稼働IoT化 — スマートファクトリー 設備稼働データ可視化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v0.1 | 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稼働時間管理が手動報告に依存し、予実乖離の原因が見えていない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生産管理システムの予定生産数と実績が乖離している。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原因は設備の計画外停止が報告に反映されていないこと。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稼働時間管理が作業員の終業時報告（手動）に依存。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これまでの検討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FSで4方式を比較し、ゲートウェイデバイス方式を第一候補に選定済み。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会社として初のDXプロジェクト。要件整理もできていない状態が出発点。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1371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6350">
            <a:solidFill>
              <a:srgbClr val="E17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70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As-Is（現状）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設備稼働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36E72"/>
                </a:solidFill>
              </a:rPr>
              <a:t> →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作業員が目視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36E72"/>
                </a:solidFill>
              </a:rPr>
              <a:t> → 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E170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終業時に手書き報告</a:t>
            </a:r>
            <a:pPr indent="0" marL="0">
              <a:lnSpc>
                <a:spcPts val="1600"/>
              </a:lnSpc>
              <a:buNone/>
            </a:pP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E170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計画外停止が報告に反映されない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37960" y="2743200"/>
            <a:ext cx="274320" cy="274320"/>
          </a:xfrm>
          <a:prstGeom prst="downArrow">
            <a:avLst/>
          </a:prstGeom>
          <a:solidFill>
            <a:srgbClr val="2BA8A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8F5F4"/>
          </a:solidFill>
          <a:ln w="6350">
            <a:solidFill>
              <a:srgbClr val="2BA8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To-Be（目指す姿）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設備稼働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36E72"/>
                </a:solidFill>
              </a:rPr>
              <a:t> → 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デバイスが自動取得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36E72"/>
                </a:solidFill>
              </a:rPr>
              <a:t> → 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BIツールでリアルタイム可視化</a:t>
            </a:r>
            <a:pPr indent="0" marL="0">
              <a:lnSpc>
                <a:spcPts val="1600"/>
              </a:lnSpc>
              <a:buNone/>
            </a:pP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予実乖離の原因が即座に特定できる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PoCの目的と3つの役割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PoCは技術検証だけではない — 3つの役割を同時に果たす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64208" y="1417320"/>
            <a:ext cx="320040" cy="320040"/>
          </a:xfrm>
          <a:prstGeom prst="ellipse">
            <a:avLst/>
          </a:prstGeom>
          <a:solidFill>
            <a:srgbClr val="2BA8A4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実現性の評価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286000"/>
            <a:ext cx="1097280" cy="18288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技術・ビジネス・運用・コストの4軸で総合的に検証する。技術偏重を防ぐ。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417320"/>
            <a:ext cx="320040" cy="320040"/>
          </a:xfrm>
          <a:prstGeom prst="ellipse">
            <a:avLst/>
          </a:prstGeom>
          <a:solidFill>
            <a:srgbClr val="0984E3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学びと発見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2286000"/>
            <a:ext cx="1097280" cy="18288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初のDXプロジェクトとして、机上では気づけない課題の発見と要件の具体化。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33488" y="141732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733348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予算確保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286000"/>
            <a:ext cx="1097280" cy="1828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本番導入の費用見積り基礎情報の取得。コスト軸の評価がこれを担う。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制約事項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6つの制約の中で最大成果を出す設計にした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出どころ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PoC期間は最大3カ月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設備介入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稼働中の既存設備に手を加えない（後付け前提）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ネットワーク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工場内LANへの新規接続不可 → セルラー通信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実施体制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自社実施。外部パートナーはPoC不参加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1台あたり5万円程度が目安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総予算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上限あり（具体額は未確定）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クライアント指定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総予算の具体額は計画フェーズで確定予定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スコープ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E2E検証に絞り、本番設計・全工場展開はPoC後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E8F5F4"/>
          </a:solidFill>
          <a:ln w="8890">
            <a:solidFill>
              <a:srgbClr val="2BA8A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検証すること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ゲートウェイデバイスとPLCの接続・データ取得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セルラー通信（SORACOM Air）によるクラウドへのデータ送信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AWS（S3+Kinesis+Athena）でのデータ蓄積・変換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BIツール（JDBC）での稼働データ可視化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工場環境（振動等）でのデバイス安定稼働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5F6FA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やらないこと（いつやるか）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生産管理システムとの連携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パイロット段階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本番システムの設計・構築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5236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本番導入時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全工場への展開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2743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本番導入時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多様なデータ分析基盤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52360" y="3246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将来ビジョン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3776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予知保全・異常検知AI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3749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後付けデバイス → セルラー → クラウド → BIの最小構成で検証する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2423160"/>
            <a:ext cx="6858000" cy="27432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636E7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745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対象設備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313432"/>
            <a:ext cx="365760" cy="228600"/>
          </a:xfrm>
          <a:prstGeom prst="rightArrow">
            <a:avLst/>
          </a:prstGeom>
          <a:solidFill>
            <a:srgbClr val="84CCC9"/>
          </a:solidFill>
          <a:ln/>
        </p:spPr>
      </p:sp>
      <p:sp>
        <p:nvSpPr>
          <p:cNvPr id="10" name="Shape 8"/>
          <p:cNvSpPr/>
          <p:nvPr/>
        </p:nvSpPr>
        <p:spPr>
          <a:xfrm>
            <a:off x="196596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2BA8A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8745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ゲートウェイ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313432"/>
            <a:ext cx="365760" cy="228600"/>
          </a:xfrm>
          <a:prstGeom prst="rightArrow">
            <a:avLst/>
          </a:prstGeom>
          <a:solidFill>
            <a:srgbClr val="84CCC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0984E3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8745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SORACOM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313432"/>
            <a:ext cx="365760" cy="228600"/>
          </a:xfrm>
          <a:prstGeom prst="rightArrow">
            <a:avLst/>
          </a:prstGeom>
          <a:solidFill>
            <a:srgbClr val="84CCC9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924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6C5C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8745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(S3/Kinesis/Athena)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313432"/>
            <a:ext cx="365760" cy="228600"/>
          </a:xfrm>
          <a:prstGeom prst="rightArrow">
            <a:avLst/>
          </a:prstGeom>
          <a:solidFill>
            <a:srgbClr val="84CCC9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00B89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8745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(JDBC)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後付け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設備改造なし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PLC経由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セルラー通信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LAN不要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4924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サーバーレス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従量課金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稼働データ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リアルタイム可視化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5F6FA"/>
          </a:solidFill>
          <a:ln w="6350">
            <a:solidFill>
              <a:srgbClr val="DF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制約への対応: </a:t>
            </a:r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設備改造なし（後付けデバイス） ｜ LAN不要（セルラー独立経路） ｜ 自社実施可能（マネージドサービス活用）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評価の枠組み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4軸で網羅的に評価し、技術偏重を防ぐ。H2は最優先で判定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1965960" cy="45720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4項目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1051560" cy="13716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動くか？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デバイス・E2E・安定性・変換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34440"/>
            <a:ext cx="1965960" cy="4572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ビジネス・業務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1691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3項目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1965960"/>
            <a:ext cx="1051560" cy="13716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使えるか？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精度・有用性・要件一覧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34440"/>
            <a:ext cx="1965960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91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3項目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965960"/>
            <a:ext cx="1051560" cy="13716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回せるか？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設置容易性・遠隔管理・盗難対策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12344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234440"/>
            <a:ext cx="1965960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1691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3項目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60920" y="1965960"/>
            <a:ext cx="1051560" cy="13716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妥当か？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通信費・クラウド費・本番見積り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5F5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0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ノックアウトファクター（最優先検証）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H2: ゲートウェイデバイスで対象設備（PLC経由）から稼働データを取得できるか</a:t>
            </a:r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不可の場合、PoC全体の前提が崩れる。Month1で検証完了し、Go/NoGoを即判断。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評価項目一覧（4軸 × 13項目）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定量9件＋定性4件で抜け漏れなく検証する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5303520"/>
                <a:gridCol w="640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ID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種別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6303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PLC経由で稼働/停止データを取得できるか（H2）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E2Eでデータが流れるか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工場環境でデバイスが3カ月安定稼働するか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データフォーマット変換の実現性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984E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ビジネス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取得データで稼働時間を正確に把握できるか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生産管理部門が「使える」と評価するか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要件一覧が作成できたか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B89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現場担当者だけでデバイス設置・交換ができるか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遠隔管理（通信停止・ステータス確認）が機能するか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デバイス盗難リスクへの技術的対策が有効か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C5CE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セルラー通信の月額コスト（実機計測）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クラウド利用費の月額コスト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本番規模での年間ランニングコスト見積り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30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= ノックアウトファクター（Month1で最優先検証）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Month1でH2判定 → Month2-3で本評価。3カ月で完結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BA8A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984E3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01952"/>
            <a:ext cx="8046720" cy="36576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1783080"/>
            <a:ext cx="182880" cy="182880"/>
          </a:xfrm>
          <a:prstGeom prst="diamond">
            <a:avLst/>
          </a:prstGeom>
          <a:solidFill>
            <a:srgbClr val="2BA8A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103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2BA8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準備完了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PLC仕様調査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デバイス選定・調達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クラウド環境構築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1760" y="1783080"/>
            <a:ext cx="182880" cy="182880"/>
          </a:xfrm>
          <a:prstGeom prst="diamond">
            <a:avLst/>
          </a:prstGeom>
          <a:solidFill>
            <a:srgbClr val="D63031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4560" y="2103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15240">
            <a:solidFill>
              <a:srgbClr val="D630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30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H2判定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デバイス設置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データ取得テスト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E2E疎通確認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1783080"/>
            <a:ext cx="182880" cy="182880"/>
          </a:xfrm>
          <a:prstGeom prst="diamond">
            <a:avLst/>
          </a:prstGeom>
          <a:solidFill>
            <a:srgbClr val="0984E3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2103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984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84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中間報告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BIツール可視化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生産管理評価開始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コスト計測開始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69280" y="1783080"/>
            <a:ext cx="182880" cy="182880"/>
          </a:xfrm>
          <a:prstGeom prst="diamond">
            <a:avLst/>
          </a:prstGeom>
          <a:solidFill>
            <a:srgbClr val="00B894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2103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8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6636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現場＋関係者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向けデモ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フィードバック収集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1783080"/>
            <a:ext cx="182880" cy="182880"/>
          </a:xfrm>
          <a:prstGeom prst="diamond">
            <a:avLst/>
          </a:prstGeom>
          <a:solidFill>
            <a:srgbClr val="6C5CE7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21031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6C5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5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最終報告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4軸評価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PoC結果報告書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次段階移行判断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10160">
            <a:solidFill>
              <a:srgbClr val="D630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630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ノックアウトゲート（Month1後半）</a:t>
            </a:r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H2がNoGoの場合 → 方式変更/中止を即判断。以降の工程には進まない。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H2がGoの場合 → Month2以降のビジネス・運用・コスト評価に進む。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技術だけで閉じない — 生産管理部門がビジネス評価を主導する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4754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主な責務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DXプロジェクト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推進担当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全体統括・ステークホルダー調整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経営報告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自社メンバー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デバイス設定・クラウド構築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E2E疎通・技術評価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生産管理部門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生産管理担当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ビジネスドメイン担当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BIツール評価を主体的に担う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工場担当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現場担当者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デバイス設置協力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運用性評価・現場フィードバック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意思決定者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E170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未特定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PoC結果の承認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次段階移行判断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8F5F4"/>
          </a:solidFill>
          <a:ln w="6350">
            <a:solidFill>
              <a:srgbClr val="2BA8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3159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</a:t>
            </a:r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生産管理部門の主体的参画がPoC成否の鍵。BIツールの評価は技術チームではなく業務部門が判断する。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致命リスク（H2）は先手で潰す。スコープ膨張は「やらないこと」で防ぐ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6400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ID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影響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対応計画（先手）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303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303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H2: データ取得不可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303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致命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Month1で最優先検証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不可→方式変更/中止を即判断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H5: 工場環境でデバイス不安定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スペック事前スクリーニング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＋3カ月実地検証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H3: 通信コスト超過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実機計測で早期把握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台数×単価で本番見積り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H4: データがビジネスに使えない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生産管理部門を早期参画（CR-5）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意思決定者不在のまま進行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立ち上げ初期に特定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（SH登録簿S1）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R-6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スコープ膨張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「やらないこと」で明言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変更は変更管理へ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ご判断いただきたいこと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87168" y="1645920"/>
            <a:ext cx="320040" cy="320040"/>
          </a:xfrm>
          <a:prstGeom prst="ellipse">
            <a:avLst/>
          </a:prstGeom>
          <a:solidFill>
            <a:srgbClr val="2BA8A4"/>
          </a:solidFill>
          <a:ln/>
        </p:spPr>
      </p:sp>
      <p:sp>
        <p:nvSpPr>
          <p:cNvPr id="6" name="Text 4"/>
          <p:cNvSpPr/>
          <p:nvPr/>
        </p:nvSpPr>
        <p:spPr>
          <a:xfrm>
            <a:off x="2487168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PoC実施の承認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0" y="2560320"/>
            <a:ext cx="1645920" cy="18288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設備稼働IoT化のPoCを3カ月で実施し、</a:t>
            </a:r>
            <a:endParaRPr lang="en-US" sz="10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4軸×13評価項目で検証します。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DFE6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1645920"/>
            <a:ext cx="320040" cy="320040"/>
          </a:xfrm>
          <a:prstGeom prst="ellipse">
            <a:avLst/>
          </a:prstGeom>
          <a:solidFill>
            <a:srgbClr val="D63031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0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ノックアウトゲートの設置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1645920" cy="18288"/>
          </a:xfrm>
          <a:prstGeom prst="rect">
            <a:avLst/>
          </a:prstGeom>
          <a:solidFill>
            <a:srgbClr val="D6303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Month1後半にH2（データ取得可否）を判定し、</a:t>
            </a:r>
            <a:endParaRPr lang="en-US" sz="10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NoGoなら即撤退する仕組みを設けます。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E8F5F4"/>
          </a:solidFill>
          <a:ln w="6350">
            <a:solidFill>
              <a:srgbClr val="2BA8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1148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PoCの結果が期待と異なっても、それ自体がPoCの成果です。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学びと発見を次の判断に活かします。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2026-06-15T15:34:40Z</dcterms:created>
  <dcterms:modified xsi:type="dcterms:W3CDTF">2026-06-15T15:34:40Z</dcterms:modified>
</cp:coreProperties>
</file>